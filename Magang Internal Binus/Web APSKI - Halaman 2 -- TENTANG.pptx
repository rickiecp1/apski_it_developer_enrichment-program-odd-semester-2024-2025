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66" r:id="rId4"/>
    <p:sldId id="267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0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957F-08F2-B0DB-8D20-905783684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E6A92-8B1A-72EF-5289-9BD22E3C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F679-2967-FD0D-FD91-E4BC32FE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CEF4-D3E1-D9BB-D5BC-6FDA05B2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C556-1C68-3C07-3AEC-7D15070A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8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A375-AED3-B0FF-2308-1A7E6F8C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4F6DD-8267-15C6-BD8F-9DAA7A7E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B8DD-1134-6F2D-2395-5EE4FF17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D5D9-12DF-C4F6-F859-1262B63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F86A-8D99-4A33-5E1D-A44EE5CE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35B7-ED7D-407C-CBE8-62CE044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6AEB-DFDB-1207-1A95-76E78503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5801-2789-55A2-632C-EAF0EF24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87E8-FD28-D571-D896-75843CD8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152C-C99F-2A96-7990-708794B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2ECD-F1E4-11AB-BA44-BB8510E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FBA6-E980-217D-5E34-9211B2A6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A0DB6-514F-CFF0-7B60-A9304A3E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700A-CBE6-4C2A-B2F5-B88F6D91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93991-5BCD-67FC-BBBD-DA7CD6EF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2634-A4D0-57AC-4368-3E3BDC01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A5F-087B-5226-9129-A517863A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A89F-07DE-8117-B48A-ABBF6350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37C-CE44-42E2-FCC3-3B463EE2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2C135-5F8E-7884-DAC4-B29761B23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04DE1-B676-9DF8-A6BB-6CC5DA221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370A2-68D0-7029-1A54-44BECE27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9DC71-23B0-9D71-6670-21B8E3D7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4BE13-35AE-460A-B749-319D8759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D84C-8855-DC93-F5CE-50AAAF16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6F096-E9E0-9BF5-C4E1-101BADF7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E19DE-C54E-3FC1-2CC7-531B8A03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F5A3D-078B-3634-3716-607E7CD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07ECF-564B-93F1-8707-D47E6272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92C9-7295-668C-8E1F-21A127D9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96D2-AABE-5352-14EC-8CFBCE2E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E9B2-7089-51AA-7FEB-799040D1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7CCB-F89F-7AA2-D40B-27196805B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B33DE-1C62-82D0-1C4C-95949597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A2448-B98D-DA8F-4F3A-DF60C84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611F2-86F7-C6CF-9E0B-3773937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A6C5-5B78-2503-172B-F8A16BE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6C65-6A5E-9E35-1C9C-AD99F6F8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3F979-4195-8621-FDB3-C3CB1030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EAC95-CF94-37EF-0121-D1442F6C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07E10-2374-1305-1277-209754A8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B03A-126B-E44E-C0FA-9A0F71FD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38CBF-5517-798E-929A-82BFD29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AC6D-2C38-9F55-4494-F703D843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4558A-D46E-A4BC-B140-2997F63D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7235-2DEB-61B3-25CC-602517A2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C642-86B1-1A7B-9980-B2E7166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C10A-4D1D-9C6D-598B-744BFEA4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F8D45-C49F-26AB-F921-6DEF08A93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024F6-873A-89D8-00ED-1491709D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4F99A-B0CF-75B4-67EE-75525889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D878E-E530-9E18-673D-955EC5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05DE-3087-4CB6-64B8-7DF6E6D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75FB-C9EC-80E1-72B8-C7DB11E7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BB97-57E6-2095-B4BB-6B500C5F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E46F-9DCF-D6CD-397C-FD231661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9AD67-D249-DE49-A492-1DCE84EFC801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3BC9-CAC6-B672-DD79-55E4B01C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1C10-0327-967B-776E-F563C34F1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GwDtThgoTvZ67nFNupxDO4" TargetMode="External"/><Relationship Id="rId2" Type="http://schemas.openxmlformats.org/officeDocument/2006/relationships/hyperlink" Target="mailto:admin@apski.n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apskiofficial?igsh=MTZxYW43N2ltejJ6ag=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9D2BC-CE04-3E05-5E1D-21D77C0677C9}"/>
              </a:ext>
            </a:extLst>
          </p:cNvPr>
          <p:cNvSpPr txBox="1"/>
          <p:nvPr/>
        </p:nvSpPr>
        <p:spPr>
          <a:xfrm>
            <a:off x="2286000" y="2766060"/>
            <a:ext cx="1885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TENTANG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E9177-59AB-F1D5-4E92-910D4D1250BE}"/>
              </a:ext>
            </a:extLst>
          </p:cNvPr>
          <p:cNvSpPr txBox="1"/>
          <p:nvPr/>
        </p:nvSpPr>
        <p:spPr>
          <a:xfrm>
            <a:off x="5273040" y="1535430"/>
            <a:ext cx="4030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Prodi </a:t>
            </a:r>
            <a:r>
              <a:rPr lang="en-US" sz="3200" dirty="0" err="1"/>
              <a:t>Kewirausahaan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83057-8BC5-9154-DF13-4B95389FF3D0}"/>
              </a:ext>
            </a:extLst>
          </p:cNvPr>
          <p:cNvSpPr txBox="1"/>
          <p:nvPr/>
        </p:nvSpPr>
        <p:spPr>
          <a:xfrm>
            <a:off x="5307330" y="2844225"/>
            <a:ext cx="5299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Histori</a:t>
            </a:r>
            <a:r>
              <a:rPr lang="en-US" sz="3200" dirty="0"/>
              <a:t> </a:t>
            </a:r>
            <a:r>
              <a:rPr lang="en-US" sz="3200" dirty="0" err="1"/>
              <a:t>Pembentukan</a:t>
            </a:r>
            <a:r>
              <a:rPr lang="en-US" sz="3200" dirty="0"/>
              <a:t> APSKI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C3E02-4BE2-5598-2BF0-2DF0204D6EDE}"/>
              </a:ext>
            </a:extLst>
          </p:cNvPr>
          <p:cNvSpPr txBox="1"/>
          <p:nvPr/>
        </p:nvSpPr>
        <p:spPr>
          <a:xfrm>
            <a:off x="9360626" y="127813"/>
            <a:ext cx="2492828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TENTANG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83A3F-FC00-5A75-6470-FDD6AA7B4D7B}"/>
              </a:ext>
            </a:extLst>
          </p:cNvPr>
          <p:cNvSpPr txBox="1"/>
          <p:nvPr/>
        </p:nvSpPr>
        <p:spPr>
          <a:xfrm>
            <a:off x="5307330" y="4345365"/>
            <a:ext cx="5299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dirty="0" err="1"/>
              <a:t>Visi</a:t>
            </a:r>
            <a:r>
              <a:rPr lang="en-US" sz="3200" dirty="0"/>
              <a:t> </a:t>
            </a:r>
            <a:r>
              <a:rPr lang="en-US" sz="3200" dirty="0" err="1"/>
              <a:t>Misi</a:t>
            </a:r>
            <a:r>
              <a:rPr lang="en-US" sz="3200" dirty="0"/>
              <a:t> APSKI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430476-273B-5368-1E81-91B73C0EE914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171950" y="1827818"/>
            <a:ext cx="1101090" cy="123063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2F166B-B037-EAE7-8FC6-5D2CECB1535E}"/>
              </a:ext>
            </a:extLst>
          </p:cNvPr>
          <p:cNvCxnSpPr>
            <a:cxnSpLocks/>
          </p:cNvCxnSpPr>
          <p:nvPr/>
        </p:nvCxnSpPr>
        <p:spPr>
          <a:xfrm>
            <a:off x="4206240" y="3158490"/>
            <a:ext cx="1066800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31130F-E830-624B-E1AF-991115E6F379}"/>
              </a:ext>
            </a:extLst>
          </p:cNvPr>
          <p:cNvCxnSpPr>
            <a:cxnSpLocks/>
          </p:cNvCxnSpPr>
          <p:nvPr/>
        </p:nvCxnSpPr>
        <p:spPr>
          <a:xfrm>
            <a:off x="4171950" y="3258533"/>
            <a:ext cx="1101090" cy="137921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34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0938C4-F0D5-8622-D1EF-DBAB47ACE25D}"/>
              </a:ext>
            </a:extLst>
          </p:cNvPr>
          <p:cNvSpPr txBox="1"/>
          <p:nvPr/>
        </p:nvSpPr>
        <p:spPr>
          <a:xfrm>
            <a:off x="9360626" y="127813"/>
            <a:ext cx="2492828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TENTANG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5A16A-2B42-3F4E-4AC4-2AB60FD335F9}"/>
              </a:ext>
            </a:extLst>
          </p:cNvPr>
          <p:cNvSpPr txBox="1"/>
          <p:nvPr/>
        </p:nvSpPr>
        <p:spPr>
          <a:xfrm>
            <a:off x="307522" y="204757"/>
            <a:ext cx="426720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Prodi </a:t>
            </a:r>
            <a:r>
              <a:rPr lang="en-US" sz="3200" b="1" dirty="0" err="1"/>
              <a:t>Kewirausahaan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C2753-923D-FD4D-79A4-16B80E9D7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954863"/>
            <a:ext cx="5718810" cy="2243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DE3913-FF00-62D5-BC20-9441C38ED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" y="5506978"/>
            <a:ext cx="3025140" cy="11163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D7C019-3FB2-6107-DE08-FCFCE07C8D29}"/>
              </a:ext>
            </a:extLst>
          </p:cNvPr>
          <p:cNvCxnSpPr>
            <a:cxnSpLocks/>
          </p:cNvCxnSpPr>
          <p:nvPr/>
        </p:nvCxnSpPr>
        <p:spPr>
          <a:xfrm flipH="1" flipV="1">
            <a:off x="3357154" y="6440390"/>
            <a:ext cx="1632585" cy="46075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5095EE-73FE-4C71-00EB-F52E5A204790}"/>
              </a:ext>
            </a:extLst>
          </p:cNvPr>
          <p:cNvSpPr txBox="1"/>
          <p:nvPr/>
        </p:nvSpPr>
        <p:spPr>
          <a:xfrm>
            <a:off x="5295356" y="6221196"/>
            <a:ext cx="3642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dihapus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77C308-771A-CDF3-4B4B-F62C00A3489F}"/>
              </a:ext>
            </a:extLst>
          </p:cNvPr>
          <p:cNvCxnSpPr>
            <a:cxnSpLocks/>
          </p:cNvCxnSpPr>
          <p:nvPr/>
        </p:nvCxnSpPr>
        <p:spPr>
          <a:xfrm flipH="1">
            <a:off x="5863590" y="1451610"/>
            <a:ext cx="902970" cy="93354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4C3B7B-7996-BEAF-8993-C357A4A8864A}"/>
              </a:ext>
            </a:extLst>
          </p:cNvPr>
          <p:cNvSpPr txBox="1"/>
          <p:nvPr/>
        </p:nvSpPr>
        <p:spPr>
          <a:xfrm>
            <a:off x="6929846" y="497145"/>
            <a:ext cx="3642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masih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sama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tetap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B530AFC0-FD49-C7D2-EC01-39F765F58809}"/>
              </a:ext>
            </a:extLst>
          </p:cNvPr>
          <p:cNvSpPr/>
          <p:nvPr/>
        </p:nvSpPr>
        <p:spPr>
          <a:xfrm>
            <a:off x="1143272" y="5635890"/>
            <a:ext cx="1554480" cy="111637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DE5351-6479-59A2-25D6-B77B657E7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0" y="2235505"/>
            <a:ext cx="5295900" cy="32714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E5F3BC9-BB28-3A49-D56C-3A1CBAFC5122}"/>
              </a:ext>
            </a:extLst>
          </p:cNvPr>
          <p:cNvSpPr txBox="1"/>
          <p:nvPr/>
        </p:nvSpPr>
        <p:spPr>
          <a:xfrm>
            <a:off x="2495006" y="3812999"/>
            <a:ext cx="3642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Tambahkan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Gambar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ABACDE-6539-9B1C-297A-07F46E0BD7EE}"/>
              </a:ext>
            </a:extLst>
          </p:cNvPr>
          <p:cNvCxnSpPr>
            <a:cxnSpLocks/>
          </p:cNvCxnSpPr>
          <p:nvPr/>
        </p:nvCxnSpPr>
        <p:spPr>
          <a:xfrm flipV="1">
            <a:off x="4994910" y="3643472"/>
            <a:ext cx="1417320" cy="43280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33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0938C4-F0D5-8622-D1EF-DBAB47ACE25D}"/>
              </a:ext>
            </a:extLst>
          </p:cNvPr>
          <p:cNvSpPr txBox="1"/>
          <p:nvPr/>
        </p:nvSpPr>
        <p:spPr>
          <a:xfrm>
            <a:off x="9360626" y="127813"/>
            <a:ext cx="2492828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TENTANG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5C043-3847-4C0A-588B-CA2AFFF63FDA}"/>
              </a:ext>
            </a:extLst>
          </p:cNvPr>
          <p:cNvSpPr txBox="1"/>
          <p:nvPr/>
        </p:nvSpPr>
        <p:spPr>
          <a:xfrm>
            <a:off x="307522" y="204757"/>
            <a:ext cx="569322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Histori</a:t>
            </a:r>
            <a:r>
              <a:rPr lang="en-US" sz="3200" b="1" dirty="0"/>
              <a:t> </a:t>
            </a:r>
            <a:r>
              <a:rPr lang="en-US" sz="3200" b="1" dirty="0" err="1"/>
              <a:t>Pembentukan</a:t>
            </a:r>
            <a:r>
              <a:rPr lang="en-US" sz="3200" b="1" dirty="0"/>
              <a:t> APSKI</a:t>
            </a:r>
          </a:p>
        </p:txBody>
      </p:sp>
      <p:sp>
        <p:nvSpPr>
          <p:cNvPr id="7" name="Oval 101">
            <a:extLst>
              <a:ext uri="{FF2B5EF4-FFF2-40B4-BE49-F238E27FC236}">
                <a16:creationId xmlns:a16="http://schemas.microsoft.com/office/drawing/2014/main" id="{3ADA37E9-87C3-4510-1BD3-F05B9C09AA96}"/>
              </a:ext>
            </a:extLst>
          </p:cNvPr>
          <p:cNvSpPr/>
          <p:nvPr/>
        </p:nvSpPr>
        <p:spPr>
          <a:xfrm>
            <a:off x="4658487" y="4028388"/>
            <a:ext cx="867541" cy="867541"/>
          </a:xfrm>
          <a:prstGeom prst="ellipse">
            <a:avLst/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val 102">
            <a:extLst>
              <a:ext uri="{FF2B5EF4-FFF2-40B4-BE49-F238E27FC236}">
                <a16:creationId xmlns:a16="http://schemas.microsoft.com/office/drawing/2014/main" id="{FA5AB8AD-E0F2-8FF5-1959-3318C6B1C5EA}"/>
              </a:ext>
            </a:extLst>
          </p:cNvPr>
          <p:cNvSpPr/>
          <p:nvPr/>
        </p:nvSpPr>
        <p:spPr>
          <a:xfrm>
            <a:off x="3125801" y="3344829"/>
            <a:ext cx="867541" cy="867541"/>
          </a:xfrm>
          <a:prstGeom prst="ellipse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val 103">
            <a:extLst>
              <a:ext uri="{FF2B5EF4-FFF2-40B4-BE49-F238E27FC236}">
                <a16:creationId xmlns:a16="http://schemas.microsoft.com/office/drawing/2014/main" id="{067E192B-3B30-CB0A-EF4F-5E73D0C5A5C1}"/>
              </a:ext>
            </a:extLst>
          </p:cNvPr>
          <p:cNvSpPr/>
          <p:nvPr/>
        </p:nvSpPr>
        <p:spPr>
          <a:xfrm>
            <a:off x="1593115" y="4028388"/>
            <a:ext cx="867541" cy="867541"/>
          </a:xfrm>
          <a:prstGeom prst="ellipse">
            <a:avLst/>
          </a:prstGeom>
          <a:noFill/>
          <a:ln w="158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104">
            <a:extLst>
              <a:ext uri="{FF2B5EF4-FFF2-40B4-BE49-F238E27FC236}">
                <a16:creationId xmlns:a16="http://schemas.microsoft.com/office/drawing/2014/main" id="{2AE2E4E9-FC58-8B88-2488-98297F450FB8}"/>
              </a:ext>
            </a:extLst>
          </p:cNvPr>
          <p:cNvSpPr/>
          <p:nvPr/>
        </p:nvSpPr>
        <p:spPr>
          <a:xfrm>
            <a:off x="7723859" y="4028388"/>
            <a:ext cx="867541" cy="867541"/>
          </a:xfrm>
          <a:prstGeom prst="ellipse">
            <a:avLst/>
          </a:prstGeom>
          <a:noFill/>
          <a:ln w="158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0">
            <a:extLst>
              <a:ext uri="{FF2B5EF4-FFF2-40B4-BE49-F238E27FC236}">
                <a16:creationId xmlns:a16="http://schemas.microsoft.com/office/drawing/2014/main" id="{724A3A5A-EDCA-5D39-92F0-3D83AD79FB42}"/>
              </a:ext>
            </a:extLst>
          </p:cNvPr>
          <p:cNvSpPr/>
          <p:nvPr/>
        </p:nvSpPr>
        <p:spPr>
          <a:xfrm>
            <a:off x="9256544" y="3344829"/>
            <a:ext cx="867541" cy="867541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01">
            <a:extLst>
              <a:ext uri="{FF2B5EF4-FFF2-40B4-BE49-F238E27FC236}">
                <a16:creationId xmlns:a16="http://schemas.microsoft.com/office/drawing/2014/main" id="{167F62A0-EA6B-16BE-9E95-4222366CEA59}"/>
              </a:ext>
            </a:extLst>
          </p:cNvPr>
          <p:cNvSpPr/>
          <p:nvPr/>
        </p:nvSpPr>
        <p:spPr>
          <a:xfrm>
            <a:off x="4750460" y="4118941"/>
            <a:ext cx="693414" cy="6934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102">
            <a:extLst>
              <a:ext uri="{FF2B5EF4-FFF2-40B4-BE49-F238E27FC236}">
                <a16:creationId xmlns:a16="http://schemas.microsoft.com/office/drawing/2014/main" id="{5153DA2C-E52B-FC84-5EB8-CC0800EFDDC3}"/>
              </a:ext>
            </a:extLst>
          </p:cNvPr>
          <p:cNvSpPr/>
          <p:nvPr/>
        </p:nvSpPr>
        <p:spPr>
          <a:xfrm>
            <a:off x="3217774" y="3435382"/>
            <a:ext cx="693414" cy="6934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103">
            <a:extLst>
              <a:ext uri="{FF2B5EF4-FFF2-40B4-BE49-F238E27FC236}">
                <a16:creationId xmlns:a16="http://schemas.microsoft.com/office/drawing/2014/main" id="{CE828849-03FA-11DF-D331-2DE3063B939F}"/>
              </a:ext>
            </a:extLst>
          </p:cNvPr>
          <p:cNvSpPr/>
          <p:nvPr/>
        </p:nvSpPr>
        <p:spPr>
          <a:xfrm>
            <a:off x="1685088" y="4118941"/>
            <a:ext cx="693414" cy="69341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Oval 104">
            <a:extLst>
              <a:ext uri="{FF2B5EF4-FFF2-40B4-BE49-F238E27FC236}">
                <a16:creationId xmlns:a16="http://schemas.microsoft.com/office/drawing/2014/main" id="{95C73202-33F8-2D2C-15AC-8E788C16FBE3}"/>
              </a:ext>
            </a:extLst>
          </p:cNvPr>
          <p:cNvSpPr/>
          <p:nvPr/>
        </p:nvSpPr>
        <p:spPr>
          <a:xfrm>
            <a:off x="7815832" y="4118941"/>
            <a:ext cx="693414" cy="6934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2A9F29-FC08-013D-0F9A-DDFB8D0E58C9}"/>
              </a:ext>
            </a:extLst>
          </p:cNvPr>
          <p:cNvSpPr txBox="1"/>
          <p:nvPr/>
        </p:nvSpPr>
        <p:spPr>
          <a:xfrm>
            <a:off x="2215334" y="4721475"/>
            <a:ext cx="2576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Permendikbud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No. 154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2014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Nomenkaltur Prodi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Kewirausahaan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Rumpun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Ilmu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Gelar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S.Bns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</a:t>
            </a:r>
          </a:p>
        </p:txBody>
      </p:sp>
      <p:sp>
        <p:nvSpPr>
          <p:cNvPr id="20" name="Block Arc 157">
            <a:extLst>
              <a:ext uri="{FF2B5EF4-FFF2-40B4-BE49-F238E27FC236}">
                <a16:creationId xmlns:a16="http://schemas.microsoft.com/office/drawing/2014/main" id="{0A2415EA-8484-39AA-7E4E-01E6524CAAB9}"/>
              </a:ext>
            </a:extLst>
          </p:cNvPr>
          <p:cNvSpPr/>
          <p:nvPr/>
        </p:nvSpPr>
        <p:spPr>
          <a:xfrm rot="10800000">
            <a:off x="2645084" y="2688404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Block Arc 158">
            <a:extLst>
              <a:ext uri="{FF2B5EF4-FFF2-40B4-BE49-F238E27FC236}">
                <a16:creationId xmlns:a16="http://schemas.microsoft.com/office/drawing/2014/main" id="{8DAA2221-354E-7243-C475-2C49584ED704}"/>
              </a:ext>
            </a:extLst>
          </p:cNvPr>
          <p:cNvSpPr/>
          <p:nvPr/>
        </p:nvSpPr>
        <p:spPr>
          <a:xfrm>
            <a:off x="7237004" y="347130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Block Arc 159">
            <a:extLst>
              <a:ext uri="{FF2B5EF4-FFF2-40B4-BE49-F238E27FC236}">
                <a16:creationId xmlns:a16="http://schemas.microsoft.com/office/drawing/2014/main" id="{AF2DBE93-B57E-94D2-9874-6C84CD464164}"/>
              </a:ext>
            </a:extLst>
          </p:cNvPr>
          <p:cNvSpPr/>
          <p:nvPr/>
        </p:nvSpPr>
        <p:spPr>
          <a:xfrm>
            <a:off x="4175724" y="347130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100">
            <a:extLst>
              <a:ext uri="{FF2B5EF4-FFF2-40B4-BE49-F238E27FC236}">
                <a16:creationId xmlns:a16="http://schemas.microsoft.com/office/drawing/2014/main" id="{E44DEEDD-592A-BDBE-E319-8B8684BD176C}"/>
              </a:ext>
            </a:extLst>
          </p:cNvPr>
          <p:cNvSpPr/>
          <p:nvPr/>
        </p:nvSpPr>
        <p:spPr>
          <a:xfrm>
            <a:off x="9348517" y="3435382"/>
            <a:ext cx="693414" cy="6934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Block Arc 160">
            <a:extLst>
              <a:ext uri="{FF2B5EF4-FFF2-40B4-BE49-F238E27FC236}">
                <a16:creationId xmlns:a16="http://schemas.microsoft.com/office/drawing/2014/main" id="{E4C50B57-FB0D-AE70-C734-5AEF9392E3D9}"/>
              </a:ext>
            </a:extLst>
          </p:cNvPr>
          <p:cNvSpPr/>
          <p:nvPr/>
        </p:nvSpPr>
        <p:spPr>
          <a:xfrm rot="10800000">
            <a:off x="8760455" y="270582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CAC18DA1-4574-D95F-BB1D-938E55577AAB}"/>
              </a:ext>
            </a:extLst>
          </p:cNvPr>
          <p:cNvSpPr txBox="1">
            <a:spLocks/>
          </p:cNvSpPr>
          <p:nvPr/>
        </p:nvSpPr>
        <p:spPr>
          <a:xfrm>
            <a:off x="3168057" y="3552535"/>
            <a:ext cx="792848" cy="4591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  <a:cs typeface="Arial" pitchFamily="34" charset="0"/>
              </a:rPr>
              <a:t>2014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3F018BA-83C2-E8F1-0299-C7F3C3C1304D}"/>
              </a:ext>
            </a:extLst>
          </p:cNvPr>
          <p:cNvSpPr txBox="1">
            <a:spLocks/>
          </p:cNvSpPr>
          <p:nvPr/>
        </p:nvSpPr>
        <p:spPr>
          <a:xfrm>
            <a:off x="4700743" y="4236094"/>
            <a:ext cx="792848" cy="4591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cs typeface="Arial" pitchFamily="34" charset="0"/>
              </a:rPr>
              <a:t>2018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A757BD6A-A35D-E729-93D5-574541B69C56}"/>
              </a:ext>
            </a:extLst>
          </p:cNvPr>
          <p:cNvSpPr txBox="1">
            <a:spLocks/>
          </p:cNvSpPr>
          <p:nvPr/>
        </p:nvSpPr>
        <p:spPr>
          <a:xfrm>
            <a:off x="6233429" y="3552535"/>
            <a:ext cx="792848" cy="4591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cs typeface="Arial" pitchFamily="34" charset="0"/>
              </a:rPr>
              <a:t>2017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0F59F8DB-C07A-7139-1664-FB8CBA87214F}"/>
              </a:ext>
            </a:extLst>
          </p:cNvPr>
          <p:cNvSpPr txBox="1">
            <a:spLocks/>
          </p:cNvSpPr>
          <p:nvPr/>
        </p:nvSpPr>
        <p:spPr>
          <a:xfrm>
            <a:off x="7766115" y="4236094"/>
            <a:ext cx="792848" cy="4591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cs typeface="Arial" pitchFamily="34" charset="0"/>
              </a:rPr>
              <a:t>2023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01123A5E-8A2D-9833-98FB-0A416C548BC9}"/>
              </a:ext>
            </a:extLst>
          </p:cNvPr>
          <p:cNvSpPr txBox="1">
            <a:spLocks/>
          </p:cNvSpPr>
          <p:nvPr/>
        </p:nvSpPr>
        <p:spPr>
          <a:xfrm>
            <a:off x="9298800" y="3552535"/>
            <a:ext cx="792848" cy="4591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cs typeface="Arial" pitchFamily="34" charset="0"/>
              </a:rPr>
              <a:t>2024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E3ADA48-3446-9A20-7482-8DA1523F0A99}"/>
              </a:ext>
            </a:extLst>
          </p:cNvPr>
          <p:cNvSpPr txBox="1">
            <a:spLocks/>
          </p:cNvSpPr>
          <p:nvPr/>
        </p:nvSpPr>
        <p:spPr>
          <a:xfrm>
            <a:off x="1635371" y="4236094"/>
            <a:ext cx="792848" cy="4591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cs typeface="Arial" pitchFamily="34" charset="0"/>
              </a:rPr>
              <a:t>2012</a:t>
            </a:r>
          </a:p>
        </p:txBody>
      </p:sp>
      <p:pic>
        <p:nvPicPr>
          <p:cNvPr id="31" name="Picture 7">
            <a:extLst>
              <a:ext uri="{FF2B5EF4-FFF2-40B4-BE49-F238E27FC236}">
                <a16:creationId xmlns:a16="http://schemas.microsoft.com/office/drawing/2014/main" id="{4C57EC3B-577E-FDD2-4A40-2C4F17425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5385">
            <a:off x="2792303" y="3681507"/>
            <a:ext cx="431839" cy="267619"/>
          </a:xfrm>
          <a:prstGeom prst="rect">
            <a:avLst/>
          </a:prstGeom>
        </p:spPr>
      </p:pic>
      <p:pic>
        <p:nvPicPr>
          <p:cNvPr id="32" name="Picture 8">
            <a:extLst>
              <a:ext uri="{FF2B5EF4-FFF2-40B4-BE49-F238E27FC236}">
                <a16:creationId xmlns:a16="http://schemas.microsoft.com/office/drawing/2014/main" id="{9DE27039-2341-C989-9F42-C5C230F2F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37796">
            <a:off x="4179582" y="3417858"/>
            <a:ext cx="431839" cy="267619"/>
          </a:xfrm>
          <a:prstGeom prst="rect">
            <a:avLst/>
          </a:prstGeom>
        </p:spPr>
      </p:pic>
      <p:pic>
        <p:nvPicPr>
          <p:cNvPr id="33" name="Picture 7">
            <a:extLst>
              <a:ext uri="{FF2B5EF4-FFF2-40B4-BE49-F238E27FC236}">
                <a16:creationId xmlns:a16="http://schemas.microsoft.com/office/drawing/2014/main" id="{A427FA69-E51A-A1D8-A17B-7CBA989F6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5916">
            <a:off x="4057567" y="4354681"/>
            <a:ext cx="431839" cy="267619"/>
          </a:xfrm>
          <a:prstGeom prst="rect">
            <a:avLst/>
          </a:prstGeom>
        </p:spPr>
      </p:pic>
      <p:pic>
        <p:nvPicPr>
          <p:cNvPr id="34" name="Picture 8">
            <a:extLst>
              <a:ext uri="{FF2B5EF4-FFF2-40B4-BE49-F238E27FC236}">
                <a16:creationId xmlns:a16="http://schemas.microsoft.com/office/drawing/2014/main" id="{F49ECBE9-4FEF-C2C9-3D2F-6319DD8CF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487176">
            <a:off x="915716" y="3527903"/>
            <a:ext cx="431839" cy="267619"/>
          </a:xfrm>
          <a:prstGeom prst="rect">
            <a:avLst/>
          </a:prstGeom>
        </p:spPr>
      </p:pic>
      <p:pic>
        <p:nvPicPr>
          <p:cNvPr id="35" name="Picture 7">
            <a:extLst>
              <a:ext uri="{FF2B5EF4-FFF2-40B4-BE49-F238E27FC236}">
                <a16:creationId xmlns:a16="http://schemas.microsoft.com/office/drawing/2014/main" id="{5BC6ACDA-B6ED-6CC9-9347-EA64E7929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16747">
            <a:off x="5797615" y="3730592"/>
            <a:ext cx="431839" cy="267619"/>
          </a:xfrm>
          <a:prstGeom prst="rect">
            <a:avLst/>
          </a:prstGeom>
        </p:spPr>
      </p:pic>
      <p:pic>
        <p:nvPicPr>
          <p:cNvPr id="36" name="Picture 8">
            <a:extLst>
              <a:ext uri="{FF2B5EF4-FFF2-40B4-BE49-F238E27FC236}">
                <a16:creationId xmlns:a16="http://schemas.microsoft.com/office/drawing/2014/main" id="{3C93947A-DD6B-6AAE-E46B-4AAD32B59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58832">
            <a:off x="5206629" y="3705960"/>
            <a:ext cx="431839" cy="267619"/>
          </a:xfrm>
          <a:prstGeom prst="rect">
            <a:avLst/>
          </a:prstGeom>
        </p:spPr>
      </p:pic>
      <p:pic>
        <p:nvPicPr>
          <p:cNvPr id="37" name="Picture 7">
            <a:extLst>
              <a:ext uri="{FF2B5EF4-FFF2-40B4-BE49-F238E27FC236}">
                <a16:creationId xmlns:a16="http://schemas.microsoft.com/office/drawing/2014/main" id="{E3787A59-22FE-EB0D-3CFD-F1E0A33CE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80314">
            <a:off x="7079920" y="4287523"/>
            <a:ext cx="431839" cy="267619"/>
          </a:xfrm>
          <a:prstGeom prst="rect">
            <a:avLst/>
          </a:prstGeom>
        </p:spPr>
      </p:pic>
      <p:pic>
        <p:nvPicPr>
          <p:cNvPr id="38" name="Picture 8">
            <a:extLst>
              <a:ext uri="{FF2B5EF4-FFF2-40B4-BE49-F238E27FC236}">
                <a16:creationId xmlns:a16="http://schemas.microsoft.com/office/drawing/2014/main" id="{F56717CC-ABF0-F2D8-B786-8677D6F80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50794">
            <a:off x="1661777" y="3690474"/>
            <a:ext cx="431839" cy="267619"/>
          </a:xfrm>
          <a:prstGeom prst="rect">
            <a:avLst/>
          </a:prstGeom>
        </p:spPr>
      </p:pic>
      <p:pic>
        <p:nvPicPr>
          <p:cNvPr id="39" name="Picture 8">
            <a:extLst>
              <a:ext uri="{FF2B5EF4-FFF2-40B4-BE49-F238E27FC236}">
                <a16:creationId xmlns:a16="http://schemas.microsoft.com/office/drawing/2014/main" id="{64A32DF4-2804-3570-394E-4E7C03F8C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37796">
            <a:off x="7198639" y="3429929"/>
            <a:ext cx="431839" cy="267619"/>
          </a:xfrm>
          <a:prstGeom prst="rect">
            <a:avLst/>
          </a:prstGeom>
        </p:spPr>
      </p:pic>
      <p:pic>
        <p:nvPicPr>
          <p:cNvPr id="40" name="Picture 8">
            <a:extLst>
              <a:ext uri="{FF2B5EF4-FFF2-40B4-BE49-F238E27FC236}">
                <a16:creationId xmlns:a16="http://schemas.microsoft.com/office/drawing/2014/main" id="{CBCC802F-F00E-5C75-0751-0D6EB467C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58832">
            <a:off x="8195779" y="3670025"/>
            <a:ext cx="431839" cy="267619"/>
          </a:xfrm>
          <a:prstGeom prst="rect">
            <a:avLst/>
          </a:prstGeom>
        </p:spPr>
      </p:pic>
      <p:pic>
        <p:nvPicPr>
          <p:cNvPr id="41" name="Picture 7">
            <a:extLst>
              <a:ext uri="{FF2B5EF4-FFF2-40B4-BE49-F238E27FC236}">
                <a16:creationId xmlns:a16="http://schemas.microsoft.com/office/drawing/2014/main" id="{A0C9C96E-4ECD-47E2-5669-0E74377CA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16747">
            <a:off x="8876628" y="3795507"/>
            <a:ext cx="431839" cy="267619"/>
          </a:xfrm>
          <a:prstGeom prst="rect">
            <a:avLst/>
          </a:prstGeom>
        </p:spPr>
      </p:pic>
      <p:pic>
        <p:nvPicPr>
          <p:cNvPr id="42" name="Picture 7">
            <a:extLst>
              <a:ext uri="{FF2B5EF4-FFF2-40B4-BE49-F238E27FC236}">
                <a16:creationId xmlns:a16="http://schemas.microsoft.com/office/drawing/2014/main" id="{BD5D65CB-DA0C-E241-3ACF-0FDB4A4AE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80314">
            <a:off x="10354314" y="4109838"/>
            <a:ext cx="431839" cy="267619"/>
          </a:xfrm>
          <a:prstGeom prst="rect">
            <a:avLst/>
          </a:prstGeom>
        </p:spPr>
      </p:pic>
      <p:pic>
        <p:nvPicPr>
          <p:cNvPr id="43" name="Picture 4">
            <a:extLst>
              <a:ext uri="{FF2B5EF4-FFF2-40B4-BE49-F238E27FC236}">
                <a16:creationId xmlns:a16="http://schemas.microsoft.com/office/drawing/2014/main" id="{606C55B2-9EE3-3C6F-F788-0E312FFCED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48911" y="2159764"/>
            <a:ext cx="894150" cy="1944777"/>
          </a:xfrm>
          <a:prstGeom prst="rect">
            <a:avLst/>
          </a:prstGeom>
        </p:spPr>
      </p:pic>
      <p:sp>
        <p:nvSpPr>
          <p:cNvPr id="44" name="Block Arc 92">
            <a:extLst>
              <a:ext uri="{FF2B5EF4-FFF2-40B4-BE49-F238E27FC236}">
                <a16:creationId xmlns:a16="http://schemas.microsoft.com/office/drawing/2014/main" id="{18999111-90DF-C97A-8970-24CC23FD8F92}"/>
              </a:ext>
            </a:extLst>
          </p:cNvPr>
          <p:cNvSpPr/>
          <p:nvPr/>
        </p:nvSpPr>
        <p:spPr>
          <a:xfrm>
            <a:off x="1118412" y="3447493"/>
            <a:ext cx="1834703" cy="1834703"/>
          </a:xfrm>
          <a:prstGeom prst="blockArc">
            <a:avLst>
              <a:gd name="adj1" fmla="val 10800022"/>
              <a:gd name="adj2" fmla="val 20021087"/>
              <a:gd name="adj3" fmla="val 648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2">
            <a:extLst>
              <a:ext uri="{FF2B5EF4-FFF2-40B4-BE49-F238E27FC236}">
                <a16:creationId xmlns:a16="http://schemas.microsoft.com/office/drawing/2014/main" id="{8971121E-0CCB-A7B3-9D1F-9A5C41CBFDF6}"/>
              </a:ext>
            </a:extLst>
          </p:cNvPr>
          <p:cNvSpPr/>
          <p:nvPr/>
        </p:nvSpPr>
        <p:spPr>
          <a:xfrm>
            <a:off x="1114551" y="4364844"/>
            <a:ext cx="825689" cy="2504958"/>
          </a:xfrm>
          <a:custGeom>
            <a:avLst/>
            <a:gdLst>
              <a:gd name="connsiteX0" fmla="*/ 0 w 119148"/>
              <a:gd name="connsiteY0" fmla="*/ 0 h 2214305"/>
              <a:gd name="connsiteX1" fmla="*/ 119148 w 119148"/>
              <a:gd name="connsiteY1" fmla="*/ 0 h 2214305"/>
              <a:gd name="connsiteX2" fmla="*/ 119148 w 119148"/>
              <a:gd name="connsiteY2" fmla="*/ 2214305 h 2214305"/>
              <a:gd name="connsiteX3" fmla="*/ 0 w 119148"/>
              <a:gd name="connsiteY3" fmla="*/ 2214305 h 2214305"/>
              <a:gd name="connsiteX4" fmla="*/ 0 w 119148"/>
              <a:gd name="connsiteY4" fmla="*/ 0 h 2214305"/>
              <a:gd name="connsiteX0" fmla="*/ 0 w 412396"/>
              <a:gd name="connsiteY0" fmla="*/ 0 h 2214305"/>
              <a:gd name="connsiteX1" fmla="*/ 119148 w 412396"/>
              <a:gd name="connsiteY1" fmla="*/ 0 h 2214305"/>
              <a:gd name="connsiteX2" fmla="*/ 412396 w 412396"/>
              <a:gd name="connsiteY2" fmla="*/ 2147657 h 2214305"/>
              <a:gd name="connsiteX3" fmla="*/ 0 w 412396"/>
              <a:gd name="connsiteY3" fmla="*/ 2214305 h 2214305"/>
              <a:gd name="connsiteX4" fmla="*/ 0 w 412396"/>
              <a:gd name="connsiteY4" fmla="*/ 0 h 2214305"/>
              <a:gd name="connsiteX0" fmla="*/ 0 w 412396"/>
              <a:gd name="connsiteY0" fmla="*/ 0 h 2147658"/>
              <a:gd name="connsiteX1" fmla="*/ 119148 w 412396"/>
              <a:gd name="connsiteY1" fmla="*/ 0 h 2147658"/>
              <a:gd name="connsiteX2" fmla="*/ 412396 w 412396"/>
              <a:gd name="connsiteY2" fmla="*/ 2147657 h 2147658"/>
              <a:gd name="connsiteX3" fmla="*/ 210606 w 412396"/>
              <a:gd name="connsiteY3" fmla="*/ 2147658 h 2147658"/>
              <a:gd name="connsiteX4" fmla="*/ 0 w 412396"/>
              <a:gd name="connsiteY4" fmla="*/ 0 h 2147658"/>
              <a:gd name="connsiteX0" fmla="*/ 0 w 468380"/>
              <a:gd name="connsiteY0" fmla="*/ 0 h 2152988"/>
              <a:gd name="connsiteX1" fmla="*/ 119148 w 468380"/>
              <a:gd name="connsiteY1" fmla="*/ 0 h 2152988"/>
              <a:gd name="connsiteX2" fmla="*/ 468380 w 468380"/>
              <a:gd name="connsiteY2" fmla="*/ 2152988 h 2152988"/>
              <a:gd name="connsiteX3" fmla="*/ 210606 w 468380"/>
              <a:gd name="connsiteY3" fmla="*/ 2147658 h 2152988"/>
              <a:gd name="connsiteX4" fmla="*/ 0 w 468380"/>
              <a:gd name="connsiteY4" fmla="*/ 0 h 2152988"/>
              <a:gd name="connsiteX0" fmla="*/ 0 w 468380"/>
              <a:gd name="connsiteY0" fmla="*/ 0 h 2152988"/>
              <a:gd name="connsiteX1" fmla="*/ 119148 w 468380"/>
              <a:gd name="connsiteY1" fmla="*/ 0 h 2152988"/>
              <a:gd name="connsiteX2" fmla="*/ 468380 w 468380"/>
              <a:gd name="connsiteY2" fmla="*/ 2152988 h 2152988"/>
              <a:gd name="connsiteX3" fmla="*/ 250595 w 468380"/>
              <a:gd name="connsiteY3" fmla="*/ 2150324 h 2152988"/>
              <a:gd name="connsiteX4" fmla="*/ 0 w 468380"/>
              <a:gd name="connsiteY4" fmla="*/ 0 h 2152988"/>
              <a:gd name="connsiteX0" fmla="*/ 0 w 471045"/>
              <a:gd name="connsiteY0" fmla="*/ 0 h 2150324"/>
              <a:gd name="connsiteX1" fmla="*/ 119148 w 471045"/>
              <a:gd name="connsiteY1" fmla="*/ 0 h 2150324"/>
              <a:gd name="connsiteX2" fmla="*/ 471045 w 471045"/>
              <a:gd name="connsiteY2" fmla="*/ 2144990 h 2150324"/>
              <a:gd name="connsiteX3" fmla="*/ 250595 w 471045"/>
              <a:gd name="connsiteY3" fmla="*/ 2150324 h 2150324"/>
              <a:gd name="connsiteX4" fmla="*/ 0 w 471045"/>
              <a:gd name="connsiteY4" fmla="*/ 0 h 2150324"/>
              <a:gd name="connsiteX0" fmla="*/ 0 w 471045"/>
              <a:gd name="connsiteY0" fmla="*/ 0 h 2150324"/>
              <a:gd name="connsiteX1" fmla="*/ 119148 w 471045"/>
              <a:gd name="connsiteY1" fmla="*/ 0 h 2150324"/>
              <a:gd name="connsiteX2" fmla="*/ 471045 w 471045"/>
              <a:gd name="connsiteY2" fmla="*/ 2144990 h 2150324"/>
              <a:gd name="connsiteX3" fmla="*/ 250595 w 471045"/>
              <a:gd name="connsiteY3" fmla="*/ 2150324 h 2150324"/>
              <a:gd name="connsiteX4" fmla="*/ 0 w 471045"/>
              <a:gd name="connsiteY4" fmla="*/ 0 h 2150324"/>
              <a:gd name="connsiteX0" fmla="*/ 0 w 471045"/>
              <a:gd name="connsiteY0" fmla="*/ 0 h 2150324"/>
              <a:gd name="connsiteX1" fmla="*/ 119148 w 471045"/>
              <a:gd name="connsiteY1" fmla="*/ 0 h 2150324"/>
              <a:gd name="connsiteX2" fmla="*/ 471045 w 471045"/>
              <a:gd name="connsiteY2" fmla="*/ 2144990 h 2150324"/>
              <a:gd name="connsiteX3" fmla="*/ 250595 w 471045"/>
              <a:gd name="connsiteY3" fmla="*/ 2150324 h 2150324"/>
              <a:gd name="connsiteX4" fmla="*/ 0 w 471045"/>
              <a:gd name="connsiteY4" fmla="*/ 0 h 2150324"/>
              <a:gd name="connsiteX0" fmla="*/ 3219 w 474264"/>
              <a:gd name="connsiteY0" fmla="*/ 0 h 2150324"/>
              <a:gd name="connsiteX1" fmla="*/ 122367 w 474264"/>
              <a:gd name="connsiteY1" fmla="*/ 0 h 2150324"/>
              <a:gd name="connsiteX2" fmla="*/ 474264 w 474264"/>
              <a:gd name="connsiteY2" fmla="*/ 2144990 h 2150324"/>
              <a:gd name="connsiteX3" fmla="*/ 253814 w 474264"/>
              <a:gd name="connsiteY3" fmla="*/ 2150324 h 2150324"/>
              <a:gd name="connsiteX4" fmla="*/ 3219 w 474264"/>
              <a:gd name="connsiteY4" fmla="*/ 0 h 2150324"/>
              <a:gd name="connsiteX0" fmla="*/ 6211 w 477256"/>
              <a:gd name="connsiteY0" fmla="*/ 0 h 2150324"/>
              <a:gd name="connsiteX1" fmla="*/ 125359 w 477256"/>
              <a:gd name="connsiteY1" fmla="*/ 0 h 2150324"/>
              <a:gd name="connsiteX2" fmla="*/ 477256 w 477256"/>
              <a:gd name="connsiteY2" fmla="*/ 2144990 h 2150324"/>
              <a:gd name="connsiteX3" fmla="*/ 256806 w 477256"/>
              <a:gd name="connsiteY3" fmla="*/ 2150324 h 2150324"/>
              <a:gd name="connsiteX4" fmla="*/ 6211 w 477256"/>
              <a:gd name="connsiteY4" fmla="*/ 0 h 2150324"/>
              <a:gd name="connsiteX0" fmla="*/ 6211 w 477256"/>
              <a:gd name="connsiteY0" fmla="*/ 0 h 2150324"/>
              <a:gd name="connsiteX1" fmla="*/ 125359 w 477256"/>
              <a:gd name="connsiteY1" fmla="*/ 0 h 2150324"/>
              <a:gd name="connsiteX2" fmla="*/ 477256 w 477256"/>
              <a:gd name="connsiteY2" fmla="*/ 2144990 h 2150324"/>
              <a:gd name="connsiteX3" fmla="*/ 256806 w 477256"/>
              <a:gd name="connsiteY3" fmla="*/ 2150324 h 2150324"/>
              <a:gd name="connsiteX4" fmla="*/ 6211 w 477256"/>
              <a:gd name="connsiteY4" fmla="*/ 0 h 2150324"/>
              <a:gd name="connsiteX0" fmla="*/ 6211 w 477256"/>
              <a:gd name="connsiteY0" fmla="*/ 0 h 2150324"/>
              <a:gd name="connsiteX1" fmla="*/ 125359 w 477256"/>
              <a:gd name="connsiteY1" fmla="*/ 0 h 2150324"/>
              <a:gd name="connsiteX2" fmla="*/ 477256 w 477256"/>
              <a:gd name="connsiteY2" fmla="*/ 2144990 h 2150324"/>
              <a:gd name="connsiteX3" fmla="*/ 256806 w 477256"/>
              <a:gd name="connsiteY3" fmla="*/ 2150324 h 2150324"/>
              <a:gd name="connsiteX4" fmla="*/ 6211 w 477256"/>
              <a:gd name="connsiteY4" fmla="*/ 0 h 2150324"/>
              <a:gd name="connsiteX0" fmla="*/ 9232 w 480277"/>
              <a:gd name="connsiteY0" fmla="*/ 0 h 2150324"/>
              <a:gd name="connsiteX1" fmla="*/ 128380 w 480277"/>
              <a:gd name="connsiteY1" fmla="*/ 0 h 2150324"/>
              <a:gd name="connsiteX2" fmla="*/ 480277 w 480277"/>
              <a:gd name="connsiteY2" fmla="*/ 2144990 h 2150324"/>
              <a:gd name="connsiteX3" fmla="*/ 259827 w 480277"/>
              <a:gd name="connsiteY3" fmla="*/ 2150324 h 2150324"/>
              <a:gd name="connsiteX4" fmla="*/ 9232 w 480277"/>
              <a:gd name="connsiteY4" fmla="*/ 0 h 2150324"/>
              <a:gd name="connsiteX0" fmla="*/ 9232 w 480277"/>
              <a:gd name="connsiteY0" fmla="*/ 0 h 2150324"/>
              <a:gd name="connsiteX1" fmla="*/ 128380 w 480277"/>
              <a:gd name="connsiteY1" fmla="*/ 0 h 2150324"/>
              <a:gd name="connsiteX2" fmla="*/ 480277 w 480277"/>
              <a:gd name="connsiteY2" fmla="*/ 2144990 h 2150324"/>
              <a:gd name="connsiteX3" fmla="*/ 259827 w 480277"/>
              <a:gd name="connsiteY3" fmla="*/ 2150324 h 2150324"/>
              <a:gd name="connsiteX4" fmla="*/ 9232 w 480277"/>
              <a:gd name="connsiteY4" fmla="*/ 0 h 2150324"/>
              <a:gd name="connsiteX0" fmla="*/ 22635 w 493680"/>
              <a:gd name="connsiteY0" fmla="*/ 0 h 2150324"/>
              <a:gd name="connsiteX1" fmla="*/ 141783 w 493680"/>
              <a:gd name="connsiteY1" fmla="*/ 0 h 2150324"/>
              <a:gd name="connsiteX2" fmla="*/ 493680 w 493680"/>
              <a:gd name="connsiteY2" fmla="*/ 2144990 h 2150324"/>
              <a:gd name="connsiteX3" fmla="*/ 273230 w 493680"/>
              <a:gd name="connsiteY3" fmla="*/ 2150324 h 2150324"/>
              <a:gd name="connsiteX4" fmla="*/ 22635 w 493680"/>
              <a:gd name="connsiteY4" fmla="*/ 0 h 2150324"/>
              <a:gd name="connsiteX0" fmla="*/ 22635 w 493680"/>
              <a:gd name="connsiteY0" fmla="*/ 0 h 2150324"/>
              <a:gd name="connsiteX1" fmla="*/ 141783 w 493680"/>
              <a:gd name="connsiteY1" fmla="*/ 0 h 2150324"/>
              <a:gd name="connsiteX2" fmla="*/ 493680 w 493680"/>
              <a:gd name="connsiteY2" fmla="*/ 2144990 h 2150324"/>
              <a:gd name="connsiteX3" fmla="*/ 273230 w 493680"/>
              <a:gd name="connsiteY3" fmla="*/ 2150324 h 2150324"/>
              <a:gd name="connsiteX4" fmla="*/ 22635 w 493680"/>
              <a:gd name="connsiteY4" fmla="*/ 0 h 2150324"/>
              <a:gd name="connsiteX0" fmla="*/ 3486 w 604397"/>
              <a:gd name="connsiteY0" fmla="*/ 0 h 2504958"/>
              <a:gd name="connsiteX1" fmla="*/ 122634 w 604397"/>
              <a:gd name="connsiteY1" fmla="*/ 0 h 2504958"/>
              <a:gd name="connsiteX2" fmla="*/ 474531 w 604397"/>
              <a:gd name="connsiteY2" fmla="*/ 2144990 h 2504958"/>
              <a:gd name="connsiteX3" fmla="*/ 591332 w 604397"/>
              <a:gd name="connsiteY3" fmla="*/ 2504958 h 2504958"/>
              <a:gd name="connsiteX4" fmla="*/ 3486 w 604397"/>
              <a:gd name="connsiteY4" fmla="*/ 0 h 2504958"/>
              <a:gd name="connsiteX0" fmla="*/ 3486 w 825689"/>
              <a:gd name="connsiteY0" fmla="*/ 0 h 2504958"/>
              <a:gd name="connsiteX1" fmla="*/ 122634 w 825689"/>
              <a:gd name="connsiteY1" fmla="*/ 0 h 2504958"/>
              <a:gd name="connsiteX2" fmla="*/ 825689 w 825689"/>
              <a:gd name="connsiteY2" fmla="*/ 2499624 h 2504958"/>
              <a:gd name="connsiteX3" fmla="*/ 591332 w 825689"/>
              <a:gd name="connsiteY3" fmla="*/ 2504958 h 2504958"/>
              <a:gd name="connsiteX4" fmla="*/ 3486 w 825689"/>
              <a:gd name="connsiteY4" fmla="*/ 0 h 2504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689" h="2504958">
                <a:moveTo>
                  <a:pt x="3486" y="0"/>
                </a:moveTo>
                <a:lnTo>
                  <a:pt x="122634" y="0"/>
                </a:lnTo>
                <a:cubicBezTo>
                  <a:pt x="97058" y="800722"/>
                  <a:pt x="489315" y="1765577"/>
                  <a:pt x="825689" y="2499624"/>
                </a:cubicBezTo>
                <a:lnTo>
                  <a:pt x="591332" y="2504958"/>
                </a:lnTo>
                <a:cubicBezTo>
                  <a:pt x="279200" y="1807233"/>
                  <a:pt x="-36807" y="821550"/>
                  <a:pt x="348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Picture 7">
            <a:extLst>
              <a:ext uri="{FF2B5EF4-FFF2-40B4-BE49-F238E27FC236}">
                <a16:creationId xmlns:a16="http://schemas.microsoft.com/office/drawing/2014/main" id="{6E4087F9-0C82-9EE8-13EE-5EB953CAF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4748">
            <a:off x="1557181" y="5629548"/>
            <a:ext cx="553787" cy="343193"/>
          </a:xfrm>
          <a:prstGeom prst="rect">
            <a:avLst/>
          </a:prstGeom>
        </p:spPr>
      </p:pic>
      <p:pic>
        <p:nvPicPr>
          <p:cNvPr id="47" name="Picture 7">
            <a:extLst>
              <a:ext uri="{FF2B5EF4-FFF2-40B4-BE49-F238E27FC236}">
                <a16:creationId xmlns:a16="http://schemas.microsoft.com/office/drawing/2014/main" id="{206F2FCA-B57E-5924-E500-E6B82AB6D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15591">
            <a:off x="693040" y="5134408"/>
            <a:ext cx="553788" cy="343193"/>
          </a:xfrm>
          <a:prstGeom prst="rect">
            <a:avLst/>
          </a:prstGeom>
        </p:spPr>
      </p:pic>
      <p:sp>
        <p:nvSpPr>
          <p:cNvPr id="48" name="Block Arc 157">
            <a:extLst>
              <a:ext uri="{FF2B5EF4-FFF2-40B4-BE49-F238E27FC236}">
                <a16:creationId xmlns:a16="http://schemas.microsoft.com/office/drawing/2014/main" id="{32459706-235E-73BC-BEEA-3DFDD3459FB5}"/>
              </a:ext>
            </a:extLst>
          </p:cNvPr>
          <p:cNvSpPr/>
          <p:nvPr/>
        </p:nvSpPr>
        <p:spPr>
          <a:xfrm rot="10800000">
            <a:off x="5710865" y="2697649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Oval 102">
            <a:extLst>
              <a:ext uri="{FF2B5EF4-FFF2-40B4-BE49-F238E27FC236}">
                <a16:creationId xmlns:a16="http://schemas.microsoft.com/office/drawing/2014/main" id="{0291894C-22B4-7D6F-BD38-CFDD172E5B1E}"/>
              </a:ext>
            </a:extLst>
          </p:cNvPr>
          <p:cNvSpPr/>
          <p:nvPr/>
        </p:nvSpPr>
        <p:spPr>
          <a:xfrm>
            <a:off x="6232189" y="3341411"/>
            <a:ext cx="867541" cy="867541"/>
          </a:xfrm>
          <a:prstGeom prst="ellipse">
            <a:avLst/>
          </a:prstGeom>
          <a:noFill/>
          <a:ln w="15875">
            <a:solidFill>
              <a:srgbClr val="92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Oval 102">
            <a:extLst>
              <a:ext uri="{FF2B5EF4-FFF2-40B4-BE49-F238E27FC236}">
                <a16:creationId xmlns:a16="http://schemas.microsoft.com/office/drawing/2014/main" id="{47920BE9-35D8-E6A8-5F56-432691C0BE18}"/>
              </a:ext>
            </a:extLst>
          </p:cNvPr>
          <p:cNvSpPr/>
          <p:nvPr/>
        </p:nvSpPr>
        <p:spPr>
          <a:xfrm>
            <a:off x="6312732" y="3429000"/>
            <a:ext cx="700666" cy="696378"/>
          </a:xfrm>
          <a:prstGeom prst="ellipse">
            <a:avLst/>
          </a:prstGeom>
          <a:solidFill>
            <a:srgbClr val="92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F7AD6857-90AD-DEFD-CFBA-CE0336AA916F}"/>
              </a:ext>
            </a:extLst>
          </p:cNvPr>
          <p:cNvSpPr txBox="1">
            <a:spLocks/>
          </p:cNvSpPr>
          <p:nvPr/>
        </p:nvSpPr>
        <p:spPr>
          <a:xfrm>
            <a:off x="6308735" y="3549117"/>
            <a:ext cx="700667" cy="4591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cs typeface="Arial" pitchFamily="34" charset="0"/>
              </a:rPr>
              <a:t>2023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2F633D-6351-DB20-FD67-C0708893C09F}"/>
              </a:ext>
            </a:extLst>
          </p:cNvPr>
          <p:cNvSpPr txBox="1"/>
          <p:nvPr/>
        </p:nvSpPr>
        <p:spPr>
          <a:xfrm>
            <a:off x="84605" y="2929255"/>
            <a:ext cx="29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Prodi Kewirausahaan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Pertama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Berdiri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di SBM-ITB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tanggal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15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Oktober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2012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534FBF-A47E-B61F-027B-7468A0BB1146}"/>
              </a:ext>
            </a:extLst>
          </p:cNvPr>
          <p:cNvSpPr txBox="1"/>
          <p:nvPr/>
        </p:nvSpPr>
        <p:spPr>
          <a:xfrm>
            <a:off x="3456772" y="2575267"/>
            <a:ext cx="3088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Pertemuan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Pertama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Prodi Kewirausahaan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dari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Seluruh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Indonesi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dihadiri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oleh 20 Universitas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bertempat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di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kampus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i3L Jakarta,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bersepakat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membentuk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APSKI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61" name="Picture 60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6D67D3FA-76E2-98DB-D8A0-31263B7D05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342" y="1716720"/>
            <a:ext cx="2179169" cy="88528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59E81C5-BAE7-9346-7EA8-13257107FBD7}"/>
              </a:ext>
            </a:extLst>
          </p:cNvPr>
          <p:cNvSpPr txBox="1"/>
          <p:nvPr/>
        </p:nvSpPr>
        <p:spPr>
          <a:xfrm>
            <a:off x="4775088" y="4867074"/>
            <a:ext cx="3885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Rakornas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APSKI pada 29-31 Mei 2023 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 Bandung,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kampus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Binus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University dan SBM-ITB.</a:t>
            </a:r>
          </a:p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Deklarasi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APSKI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dihadiri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65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perguruan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tinggi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315E72-0003-599A-E83A-0708586E0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615" y="5598204"/>
            <a:ext cx="1541185" cy="115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FA566BE-D4A7-5213-8AE9-A4F70AF51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333" y="5590314"/>
            <a:ext cx="1741168" cy="115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BC4ECCA2-45A3-3061-A8A9-5F6A1927C5A9}"/>
              </a:ext>
            </a:extLst>
          </p:cNvPr>
          <p:cNvSpPr txBox="1"/>
          <p:nvPr/>
        </p:nvSpPr>
        <p:spPr>
          <a:xfrm>
            <a:off x="6620184" y="2672503"/>
            <a:ext cx="3387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Pengesahan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(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aspek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legal)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Perkumpulan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APSKI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SK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KemenKumHam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Akta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Notaris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NPWP, Detail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Transaksi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Pengukuhan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Pengurus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</p:txBody>
      </p:sp>
      <p:pic>
        <p:nvPicPr>
          <p:cNvPr id="70" name="Picture 69" descr="A blue square with yellow and black text&#10;&#10;Description automatically generated">
            <a:extLst>
              <a:ext uri="{FF2B5EF4-FFF2-40B4-BE49-F238E27FC236}">
                <a16:creationId xmlns:a16="http://schemas.microsoft.com/office/drawing/2014/main" id="{99E4AC62-9DBF-644B-4D3E-CEDA3E4513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7721" y="1790489"/>
            <a:ext cx="2248787" cy="86145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034FC5E-DF7D-2ADD-2EA0-CD1F168A3AD5}"/>
              </a:ext>
            </a:extLst>
          </p:cNvPr>
          <p:cNvSpPr txBox="1"/>
          <p:nvPr/>
        </p:nvSpPr>
        <p:spPr>
          <a:xfrm>
            <a:off x="8509246" y="4594678"/>
            <a:ext cx="363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Rakernas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1, APSKI pada 10-12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Juii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2024 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 Makassar,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kampus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Universitas negeri Makassar</a:t>
            </a:r>
          </a:p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dihadiri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52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perguruan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tinggi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12FCECC-2DBD-D0A9-EE16-37761678A1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" t="28667" r="1661" b="4667"/>
          <a:stretch/>
        </p:blipFill>
        <p:spPr bwMode="auto">
          <a:xfrm>
            <a:off x="9447380" y="5295162"/>
            <a:ext cx="1701807" cy="875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DADE976E-A8A0-9659-3D7D-4ADB56D3DABE}"/>
              </a:ext>
            </a:extLst>
          </p:cNvPr>
          <p:cNvSpPr txBox="1"/>
          <p:nvPr/>
        </p:nvSpPr>
        <p:spPr>
          <a:xfrm>
            <a:off x="10371323" y="2039004"/>
            <a:ext cx="1625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Aktivitas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&amp;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Kegiatan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APSKI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selanjutnya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7C1E150-BD22-3C07-E0AD-23D733BBB837}"/>
              </a:ext>
            </a:extLst>
          </p:cNvPr>
          <p:cNvSpPr txBox="1"/>
          <p:nvPr/>
        </p:nvSpPr>
        <p:spPr>
          <a:xfrm>
            <a:off x="6010427" y="391977"/>
            <a:ext cx="59277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yang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sebelumnya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dihapus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,</a:t>
            </a:r>
          </a:p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digunakan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yg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dibawah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saja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4566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0938C4-F0D5-8622-D1EF-DBAB47ACE25D}"/>
              </a:ext>
            </a:extLst>
          </p:cNvPr>
          <p:cNvSpPr txBox="1"/>
          <p:nvPr/>
        </p:nvSpPr>
        <p:spPr>
          <a:xfrm>
            <a:off x="9360626" y="127813"/>
            <a:ext cx="2492828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highlight>
                  <a:srgbClr val="FFFF00"/>
                </a:highlight>
              </a:rPr>
              <a:t>Halaman TENTANG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532DD-F019-49CC-5599-D09943636BBA}"/>
              </a:ext>
            </a:extLst>
          </p:cNvPr>
          <p:cNvSpPr txBox="1"/>
          <p:nvPr/>
        </p:nvSpPr>
        <p:spPr>
          <a:xfrm>
            <a:off x="307522" y="204757"/>
            <a:ext cx="344151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/>
              <a:t>Visi Misi APSKI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06520-1338-5F34-F884-E52F79F57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709" y="388371"/>
            <a:ext cx="2366247" cy="18696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D77EDE-A8E7-4470-6CEC-77689F2781D1}"/>
              </a:ext>
            </a:extLst>
          </p:cNvPr>
          <p:cNvCxnSpPr>
            <a:cxnSpLocks/>
          </p:cNvCxnSpPr>
          <p:nvPr/>
        </p:nvCxnSpPr>
        <p:spPr>
          <a:xfrm flipH="1">
            <a:off x="7760970" y="1323185"/>
            <a:ext cx="1380547" cy="299875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28D1A1-52F9-BB2C-1E6D-232EF84E6FC6}"/>
              </a:ext>
            </a:extLst>
          </p:cNvPr>
          <p:cNvSpPr txBox="1"/>
          <p:nvPr/>
        </p:nvSpPr>
        <p:spPr>
          <a:xfrm>
            <a:off x="7935686" y="687071"/>
            <a:ext cx="36429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yang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sebelumnya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semuanya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dihapus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5231CC-DD07-8FCF-82DD-21998AD7B4E9}"/>
              </a:ext>
            </a:extLst>
          </p:cNvPr>
          <p:cNvCxnSpPr>
            <a:cxnSpLocks/>
          </p:cNvCxnSpPr>
          <p:nvPr/>
        </p:nvCxnSpPr>
        <p:spPr>
          <a:xfrm>
            <a:off x="1570807" y="1747927"/>
            <a:ext cx="457474" cy="909965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BE6FCB7-43A3-B9EA-7FF6-1040BDF7FB97}"/>
              </a:ext>
            </a:extLst>
          </p:cNvPr>
          <p:cNvSpPr txBox="1"/>
          <p:nvPr/>
        </p:nvSpPr>
        <p:spPr>
          <a:xfrm>
            <a:off x="307522" y="1163152"/>
            <a:ext cx="29500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diganti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oleh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66BC2C-3C81-4346-A859-682AF6F07903}"/>
              </a:ext>
            </a:extLst>
          </p:cNvPr>
          <p:cNvSpPr txBox="1"/>
          <p:nvPr/>
        </p:nvSpPr>
        <p:spPr>
          <a:xfrm>
            <a:off x="204652" y="2256731"/>
            <a:ext cx="10812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dirty="0" err="1">
                <a:effectLst/>
                <a:latin typeface="Arial" panose="020B0604020202020204" pitchFamily="34" charset="0"/>
              </a:rPr>
              <a:t>Visi</a:t>
            </a:r>
            <a:r>
              <a:rPr lang="en-ID" sz="1600" b="1" dirty="0">
                <a:effectLst/>
                <a:latin typeface="Arial" panose="020B0604020202020204" pitchFamily="34" charset="0"/>
              </a:rPr>
              <a:t> APSKI</a:t>
            </a:r>
          </a:p>
          <a:p>
            <a:endParaRPr lang="en-ID" sz="1600" dirty="0">
              <a:effectLst/>
              <a:latin typeface="Arial" panose="020B0604020202020204" pitchFamily="34" charset="0"/>
            </a:endParaRPr>
          </a:p>
          <a:p>
            <a:r>
              <a:rPr lang="en-ID" sz="1600" dirty="0" err="1">
                <a:effectLst/>
                <a:latin typeface="Arial" panose="020B0604020202020204" pitchFamily="34" charset="0"/>
              </a:rPr>
              <a:t>Menjadi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faktor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penguat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daya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saing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wirausaha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dari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perguruan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tinggi</a:t>
            </a:r>
            <a:r>
              <a:rPr lang="en-ID" sz="1600" dirty="0">
                <a:effectLst/>
                <a:latin typeface="Arial" panose="020B0604020202020204" pitchFamily="34" charset="0"/>
              </a:rPr>
              <a:t> Indonesia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dalam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skala</a:t>
            </a:r>
            <a:r>
              <a:rPr lang="en-ID" sz="1600" dirty="0">
                <a:effectLst/>
                <a:latin typeface="Arial" panose="020B0604020202020204" pitchFamily="34" charset="0"/>
              </a:rPr>
              <a:t> global </a:t>
            </a:r>
            <a:endParaRPr lang="en-ID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BEFFBD-AFE1-91C3-C55B-58D1057D96D4}"/>
              </a:ext>
            </a:extLst>
          </p:cNvPr>
          <p:cNvSpPr txBox="1"/>
          <p:nvPr/>
        </p:nvSpPr>
        <p:spPr>
          <a:xfrm>
            <a:off x="204652" y="3309907"/>
            <a:ext cx="1164880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dirty="0" err="1">
                <a:latin typeface="Arial" panose="020B0604020202020204" pitchFamily="34" charset="0"/>
              </a:rPr>
              <a:t>M</a:t>
            </a:r>
            <a:r>
              <a:rPr lang="en-ID" sz="1600" b="1" dirty="0" err="1">
                <a:effectLst/>
                <a:latin typeface="Arial" panose="020B0604020202020204" pitchFamily="34" charset="0"/>
              </a:rPr>
              <a:t>isi</a:t>
            </a:r>
            <a:r>
              <a:rPr lang="en-ID" sz="1600" b="1" dirty="0">
                <a:effectLst/>
                <a:latin typeface="Arial" panose="020B0604020202020204" pitchFamily="34" charset="0"/>
              </a:rPr>
              <a:t> APSKI</a:t>
            </a:r>
          </a:p>
          <a:p>
            <a:endParaRPr lang="en-ID" sz="160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en-ID" sz="1600" dirty="0" err="1">
                <a:effectLst/>
                <a:latin typeface="Arial" panose="020B0604020202020204" pitchFamily="34" charset="0"/>
              </a:rPr>
              <a:t>Penguatan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layanan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profesional</a:t>
            </a:r>
            <a:r>
              <a:rPr lang="en-ID" sz="1600" dirty="0">
                <a:effectLst/>
                <a:latin typeface="Arial" panose="020B0604020202020204" pitchFamily="34" charset="0"/>
              </a:rPr>
              <a:t> program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studi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perguruan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tinggi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dalam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menjalankan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fungsi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sebagai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entitas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penyelenggara</a:t>
            </a:r>
            <a:r>
              <a:rPr lang="en-ID" sz="1600" dirty="0">
                <a:effectLst/>
                <a:latin typeface="Arial" panose="020B0604020202020204" pitchFamily="34" charset="0"/>
              </a:rPr>
              <a:t>:</a:t>
            </a:r>
          </a:p>
          <a:p>
            <a:pPr marL="658813" indent="-342900">
              <a:buFont typeface="+mj-lt"/>
              <a:buAutoNum type="alphaLcPeriod"/>
            </a:pPr>
            <a:r>
              <a:rPr lang="en-ID" sz="1600" dirty="0" err="1">
                <a:effectLst/>
                <a:latin typeface="Arial" panose="020B0604020202020204" pitchFamily="34" charset="0"/>
              </a:rPr>
              <a:t>Pelatihan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peningkatan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keahlian</a:t>
            </a:r>
            <a:r>
              <a:rPr lang="en-ID" sz="1600" dirty="0">
                <a:effectLst/>
                <a:latin typeface="Arial" panose="020B0604020202020204" pitchFamily="34" charset="0"/>
              </a:rPr>
              <a:t> dan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keterampilan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kewirausahaan</a:t>
            </a:r>
            <a:endParaRPr lang="en-ID" sz="1600" dirty="0">
              <a:effectLst/>
              <a:latin typeface="Arial" panose="020B0604020202020204" pitchFamily="34" charset="0"/>
            </a:endParaRPr>
          </a:p>
          <a:p>
            <a:pPr marL="658813" indent="-342900">
              <a:buFont typeface="+mj-lt"/>
              <a:buAutoNum type="alphaLcPeriod"/>
            </a:pPr>
            <a:r>
              <a:rPr lang="en-ID" sz="1600" dirty="0" err="1">
                <a:effectLst/>
                <a:latin typeface="Arial" panose="020B0604020202020204" pitchFamily="34" charset="0"/>
              </a:rPr>
              <a:t>Pengelolaan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jejaring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kewirausahaan</a:t>
            </a:r>
            <a:endParaRPr lang="en-ID" sz="1600" dirty="0">
              <a:effectLst/>
              <a:latin typeface="Arial" panose="020B0604020202020204" pitchFamily="34" charset="0"/>
            </a:endParaRPr>
          </a:p>
          <a:p>
            <a:pPr marL="658813" indent="-342900">
              <a:buFont typeface="+mj-lt"/>
              <a:buAutoNum type="alphaLcPeriod"/>
            </a:pPr>
            <a:r>
              <a:rPr lang="en-ID" sz="1600" dirty="0" err="1">
                <a:effectLst/>
                <a:latin typeface="Arial" panose="020B0604020202020204" pitchFamily="34" charset="0"/>
              </a:rPr>
              <a:t>Inkubator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bisnis</a:t>
            </a:r>
            <a:endParaRPr lang="en-ID" sz="1600" dirty="0">
              <a:latin typeface="Arial" panose="020B0604020202020204" pitchFamily="34" charset="0"/>
            </a:endParaRPr>
          </a:p>
          <a:p>
            <a:pPr marL="658813" indent="-342900">
              <a:buFont typeface="+mj-lt"/>
              <a:buAutoNum type="alphaLcPeriod"/>
            </a:pPr>
            <a:r>
              <a:rPr lang="en-ID" sz="1600" dirty="0" err="1">
                <a:effectLst/>
                <a:latin typeface="Arial" panose="020B0604020202020204" pitchFamily="34" charset="0"/>
              </a:rPr>
              <a:t>Penyuluhan</a:t>
            </a:r>
            <a:r>
              <a:rPr lang="en-ID" sz="1600" dirty="0">
                <a:effectLst/>
                <a:latin typeface="Arial" panose="020B0604020202020204" pitchFamily="34" charset="0"/>
              </a:rPr>
              <a:t> dan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pelatihan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mengenai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kewirausahaan</a:t>
            </a:r>
            <a:endParaRPr lang="en-ID" sz="1600" dirty="0">
              <a:effectLst/>
              <a:latin typeface="Arial" panose="020B0604020202020204" pitchFamily="34" charset="0"/>
            </a:endParaRPr>
          </a:p>
          <a:p>
            <a:pPr marL="658813" indent="-342900">
              <a:buFont typeface="+mj-lt"/>
              <a:buAutoNum type="alphaLcPeriod"/>
            </a:pPr>
            <a:r>
              <a:rPr lang="en-ID" sz="1600" dirty="0" err="1">
                <a:effectLst/>
                <a:latin typeface="Arial" panose="020B0604020202020204" pitchFamily="34" charset="0"/>
              </a:rPr>
              <a:t>Pengembangan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kewirausahaan</a:t>
            </a:r>
            <a:endParaRPr lang="en-ID" sz="1600" dirty="0">
              <a:latin typeface="Arial" panose="020B0604020202020204" pitchFamily="34" charset="0"/>
            </a:endParaRPr>
          </a:p>
          <a:p>
            <a:pPr marL="658813" indent="-342900">
              <a:buFont typeface="+mj-lt"/>
              <a:buAutoNum type="alphaLcPeriod"/>
            </a:pPr>
            <a:r>
              <a:rPr lang="en-ID" sz="1600" dirty="0" err="1">
                <a:effectLst/>
                <a:latin typeface="Arial" panose="020B0604020202020204" pitchFamily="34" charset="0"/>
              </a:rPr>
              <a:t>Studi</a:t>
            </a:r>
            <a:r>
              <a:rPr lang="en-ID" sz="1600" dirty="0">
                <a:effectLst/>
                <a:latin typeface="Arial" panose="020B0604020202020204" pitchFamily="34" charset="0"/>
              </a:rPr>
              <a:t> </a:t>
            </a:r>
            <a:r>
              <a:rPr lang="en-ID" sz="1600" dirty="0" err="1">
                <a:effectLst/>
                <a:latin typeface="Arial" panose="020B0604020202020204" pitchFamily="34" charset="0"/>
              </a:rPr>
              <a:t>penelusuran</a:t>
            </a:r>
            <a:r>
              <a:rPr lang="en-ID" sz="1600" dirty="0">
                <a:effectLst/>
                <a:latin typeface="Arial" panose="020B0604020202020204" pitchFamily="34" charset="0"/>
              </a:rPr>
              <a:t> alumni</a:t>
            </a:r>
          </a:p>
          <a:p>
            <a:pPr marL="315913" indent="-315913"/>
            <a:r>
              <a:rPr lang="en-ID" sz="1600" dirty="0"/>
              <a:t>2) 	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mitra</a:t>
            </a:r>
            <a:r>
              <a:rPr lang="en-ID" sz="1600" dirty="0"/>
              <a:t> </a:t>
            </a:r>
            <a:r>
              <a:rPr lang="en-ID" sz="1600" dirty="0" err="1"/>
              <a:t>strategik</a:t>
            </a:r>
            <a:r>
              <a:rPr lang="en-ID" sz="1600" dirty="0"/>
              <a:t> </a:t>
            </a:r>
            <a:r>
              <a:rPr lang="en-ID" sz="1600" dirty="0" err="1"/>
              <a:t>pemerintah</a:t>
            </a:r>
            <a:r>
              <a:rPr lang="en-ID" sz="1600" dirty="0"/>
              <a:t> dan </a:t>
            </a:r>
            <a:r>
              <a:rPr lang="en-ID" sz="1600" dirty="0" err="1"/>
              <a:t>lembaga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</a:t>
            </a:r>
            <a:r>
              <a:rPr lang="en-ID" sz="1600" dirty="0" err="1"/>
              <a:t>kewirausahaan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mempercepat</a:t>
            </a:r>
            <a:r>
              <a:rPr lang="en-ID" sz="1600" dirty="0"/>
              <a:t> </a:t>
            </a:r>
            <a:r>
              <a:rPr lang="en-ID" sz="1600" dirty="0" err="1"/>
              <a:t>terbentuknya</a:t>
            </a:r>
            <a:r>
              <a:rPr lang="en-ID" sz="1600" dirty="0"/>
              <a:t> </a:t>
            </a:r>
            <a:r>
              <a:rPr lang="en-ID" sz="1600" dirty="0" err="1"/>
              <a:t>pusat</a:t>
            </a:r>
            <a:r>
              <a:rPr lang="en-ID" sz="1600" dirty="0"/>
              <a:t> </a:t>
            </a:r>
            <a:r>
              <a:rPr lang="en-ID" sz="1600" dirty="0" err="1"/>
              <a:t>karir</a:t>
            </a:r>
            <a:r>
              <a:rPr lang="en-ID" sz="1600" dirty="0"/>
              <a:t> dan </a:t>
            </a:r>
            <a:r>
              <a:rPr lang="en-ID" sz="1600" dirty="0" err="1"/>
              <a:t>penguatan</a:t>
            </a:r>
            <a:r>
              <a:rPr lang="en-ID" sz="1600" dirty="0"/>
              <a:t> </a:t>
            </a:r>
            <a:r>
              <a:rPr lang="en-ID" sz="1600" dirty="0" err="1"/>
              <a:t>layanan</a:t>
            </a:r>
            <a:r>
              <a:rPr lang="en-ID" sz="1600" dirty="0"/>
              <a:t> di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perguruan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 di </a:t>
            </a:r>
            <a:r>
              <a:rPr lang="en-ID" sz="1600" dirty="0" err="1"/>
              <a:t>seluruh</a:t>
            </a:r>
            <a:r>
              <a:rPr lang="en-ID" sz="1600" dirty="0"/>
              <a:t> Indonesia yang </a:t>
            </a:r>
            <a:r>
              <a:rPr lang="en-ID" sz="1600" dirty="0" err="1"/>
              <a:t>berintegrasi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jejaring</a:t>
            </a:r>
            <a:r>
              <a:rPr lang="en-ID" sz="1600" dirty="0"/>
              <a:t> </a:t>
            </a:r>
            <a:r>
              <a:rPr lang="en-ID" sz="1600" dirty="0" err="1"/>
              <a:t>perkumpulan</a:t>
            </a:r>
            <a:endParaRPr lang="en-ID" sz="1600" dirty="0"/>
          </a:p>
          <a:p>
            <a:pPr marL="315913" indent="-315913"/>
            <a:r>
              <a:rPr lang="en-ID" sz="1600" dirty="0"/>
              <a:t>3) 	</a:t>
            </a:r>
            <a:r>
              <a:rPr lang="en-ID" sz="1600" dirty="0" err="1"/>
              <a:t>Merumuskan</a:t>
            </a:r>
            <a:r>
              <a:rPr lang="en-ID" sz="1600" dirty="0"/>
              <a:t> strategi </a:t>
            </a:r>
            <a:r>
              <a:rPr lang="en-ID" sz="1600" dirty="0" err="1"/>
              <a:t>penguatan</a:t>
            </a:r>
            <a:r>
              <a:rPr lang="en-ID" sz="1600" dirty="0"/>
              <a:t> </a:t>
            </a:r>
            <a:r>
              <a:rPr lang="en-ID" sz="1600" dirty="0" err="1"/>
              <a:t>kualitas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daya</a:t>
            </a:r>
            <a:r>
              <a:rPr lang="en-ID" sz="1600" dirty="0"/>
              <a:t> </a:t>
            </a:r>
            <a:r>
              <a:rPr lang="en-ID" sz="1600" dirty="0" err="1"/>
              <a:t>manusia</a:t>
            </a:r>
            <a:r>
              <a:rPr lang="en-ID" sz="1600" dirty="0"/>
              <a:t> (SDM) Indonesia </a:t>
            </a:r>
            <a:r>
              <a:rPr lang="en-ID" sz="1600" dirty="0" err="1"/>
              <a:t>khususnya</a:t>
            </a:r>
            <a:r>
              <a:rPr lang="en-ID" sz="1600" dirty="0"/>
              <a:t> </a:t>
            </a:r>
            <a:r>
              <a:rPr lang="en-ID" sz="1600" dirty="0" err="1"/>
              <a:t>lulusan</a:t>
            </a:r>
            <a:r>
              <a:rPr lang="en-ID" sz="1600" dirty="0"/>
              <a:t> </a:t>
            </a:r>
            <a:r>
              <a:rPr lang="en-ID" sz="1600" dirty="0" err="1"/>
              <a:t>perguruan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 program </a:t>
            </a:r>
            <a:r>
              <a:rPr lang="en-ID" sz="1600" dirty="0" err="1"/>
              <a:t>studi</a:t>
            </a:r>
            <a:r>
              <a:rPr lang="en-ID" sz="1600" dirty="0"/>
              <a:t> </a:t>
            </a:r>
            <a:r>
              <a:rPr lang="en-ID" sz="1600" dirty="0" err="1"/>
              <a:t>kewirausahaan</a:t>
            </a:r>
            <a:r>
              <a:rPr lang="en-ID" sz="1600" dirty="0"/>
              <a:t> di era </a:t>
            </a:r>
            <a:r>
              <a:rPr lang="en-ID" sz="1600" dirty="0" err="1"/>
              <a:t>persaingan</a:t>
            </a:r>
            <a:r>
              <a:rPr lang="en-ID" sz="1600" dirty="0"/>
              <a:t> global</a:t>
            </a:r>
          </a:p>
        </p:txBody>
      </p:sp>
    </p:spTree>
    <p:extLst>
      <p:ext uri="{BB962C8B-B14F-4D97-AF65-F5344CB8AC3E}">
        <p14:creationId xmlns:p14="http://schemas.microsoft.com/office/powerpoint/2010/main" val="210114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0938C4-F0D5-8622-D1EF-DBAB47ACE25D}"/>
              </a:ext>
            </a:extLst>
          </p:cNvPr>
          <p:cNvSpPr txBox="1"/>
          <p:nvPr/>
        </p:nvSpPr>
        <p:spPr>
          <a:xfrm>
            <a:off x="9360626" y="127813"/>
            <a:ext cx="2492828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TENTANG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0EBB94-C393-312A-BFFC-C1A65DCA1BA8}"/>
              </a:ext>
            </a:extLst>
          </p:cNvPr>
          <p:cNvSpPr txBox="1"/>
          <p:nvPr/>
        </p:nvSpPr>
        <p:spPr>
          <a:xfrm>
            <a:off x="1183958" y="3334613"/>
            <a:ext cx="88820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Address</a:t>
            </a: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Perkumpulan APSKI</a:t>
            </a: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Aliansi</a:t>
            </a:r>
            <a:r>
              <a:rPr lang="en-ID" dirty="0">
                <a:latin typeface="Open Sans" panose="020B0606030504020204" pitchFamily="34" charset="0"/>
              </a:rPr>
              <a:t> Program </a:t>
            </a:r>
            <a:r>
              <a:rPr lang="en-ID" dirty="0" err="1">
                <a:latin typeface="Open Sans" panose="020B0606030504020204" pitchFamily="34" charset="0"/>
              </a:rPr>
              <a:t>Studi</a:t>
            </a:r>
            <a:r>
              <a:rPr lang="en-ID" dirty="0">
                <a:latin typeface="Open Sans" panose="020B0606030504020204" pitchFamily="34" charset="0"/>
              </a:rPr>
              <a:t> Indonesia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Sekretaris</a:t>
            </a:r>
            <a:r>
              <a:rPr lang="en-ID" dirty="0">
                <a:latin typeface="Open Sans" panose="020B0606030504020204" pitchFamily="34" charset="0"/>
              </a:rPr>
              <a:t> 1, </a:t>
            </a:r>
            <a:r>
              <a:rPr lang="en-ID" dirty="0" err="1">
                <a:latin typeface="Open Sans" panose="020B0606030504020204" pitchFamily="34" charset="0"/>
              </a:rPr>
              <a:t>Raditha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</a:rPr>
              <a:t>Hapsari</a:t>
            </a:r>
            <a:r>
              <a:rPr lang="en-ID" dirty="0">
                <a:latin typeface="Open Sans" panose="020B0606030504020204" pitchFamily="34" charset="0"/>
              </a:rPr>
              <a:t>, PhD</a:t>
            </a:r>
          </a:p>
          <a:p>
            <a:pPr algn="l"/>
            <a:r>
              <a:rPr lang="en-ID" b="0" i="0" u="none" strike="noStrike" dirty="0" err="1">
                <a:effectLst/>
                <a:latin typeface="Open Sans" panose="020B0606030504020204" pitchFamily="34" charset="0"/>
              </a:rPr>
              <a:t>Sek</a:t>
            </a:r>
            <a:r>
              <a:rPr lang="en-ID" dirty="0" err="1">
                <a:latin typeface="Open Sans" panose="020B0606030504020204" pitchFamily="34" charset="0"/>
              </a:rPr>
              <a:t>retaris</a:t>
            </a:r>
            <a:r>
              <a:rPr lang="en-ID" dirty="0">
                <a:latin typeface="Open Sans" panose="020B0606030504020204" pitchFamily="34" charset="0"/>
              </a:rPr>
              <a:t> 2, </a:t>
            </a:r>
            <a:r>
              <a:rPr lang="en-ID" dirty="0" err="1">
                <a:latin typeface="Open Sans" panose="020B0606030504020204" pitchFamily="34" charset="0"/>
              </a:rPr>
              <a:t>Dr.</a:t>
            </a:r>
            <a:r>
              <a:rPr lang="en-ID" dirty="0">
                <a:latin typeface="Open Sans" panose="020B0606030504020204" pitchFamily="34" charset="0"/>
              </a:rPr>
              <a:t> Wisnu </a:t>
            </a:r>
            <a:r>
              <a:rPr lang="en-ID" dirty="0" err="1">
                <a:latin typeface="Open Sans" panose="020B0606030504020204" pitchFamily="34" charset="0"/>
              </a:rPr>
              <a:t>Dewobroto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Website:  https://apski.net/</a:t>
            </a:r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admin@apski.net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>
                <a:latin typeface="Open Sans" panose="020B0606030504020204" pitchFamily="34" charset="0"/>
              </a:rPr>
              <a:t>Group WhatsApp:  </a:t>
            </a:r>
            <a:r>
              <a:rPr lang="en-ID" dirty="0">
                <a:latin typeface="Open Sans" panose="020B0606030504020204" pitchFamily="34" charset="0"/>
                <a:hlinkClick r:id="rId3"/>
              </a:rPr>
              <a:t>https://chat.whatsapp.com/GwDtThgoTvZ67nFNupxDO4</a:t>
            </a:r>
            <a:endParaRPr lang="en-ID" dirty="0">
              <a:latin typeface="Open Sans" panose="020B0606030504020204" pitchFamily="34" charset="0"/>
            </a:endParaRP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Instagram: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4"/>
              </a:rPr>
              <a:t>https://www.instagram.com/apskiofficial?igsh=MTZxYW43N2ltejJ6ag==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5AB391-D78C-9720-32D7-B21BA00387D1}"/>
              </a:ext>
            </a:extLst>
          </p:cNvPr>
          <p:cNvCxnSpPr>
            <a:cxnSpLocks/>
          </p:cNvCxnSpPr>
          <p:nvPr/>
        </p:nvCxnSpPr>
        <p:spPr>
          <a:xfrm flipH="1">
            <a:off x="5795010" y="3783330"/>
            <a:ext cx="2114550" cy="100212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FD8CC0-1BCC-2B0C-66BB-95FDC040445B}"/>
              </a:ext>
            </a:extLst>
          </p:cNvPr>
          <p:cNvSpPr txBox="1"/>
          <p:nvPr/>
        </p:nvSpPr>
        <p:spPr>
          <a:xfrm>
            <a:off x="8023860" y="2013615"/>
            <a:ext cx="33832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bawah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/footnote</a:t>
            </a:r>
          </a:p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memasukan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seperti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pada footnote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halaman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1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beranda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19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371</Words>
  <Application>Microsoft Macintosh PowerPoint</Application>
  <PresentationFormat>Widescreen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Open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Aryanto</dc:creator>
  <cp:lastModifiedBy>Rudy Aryanto</cp:lastModifiedBy>
  <cp:revision>15</cp:revision>
  <dcterms:created xsi:type="dcterms:W3CDTF">2024-06-25T02:20:11Z</dcterms:created>
  <dcterms:modified xsi:type="dcterms:W3CDTF">2024-08-22T07:10:04Z</dcterms:modified>
</cp:coreProperties>
</file>